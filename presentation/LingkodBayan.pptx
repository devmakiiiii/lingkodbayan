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— Title (30 seconds)</a:t>
            </a:r>
          </a:p>
          <a:p/>
          <a:p>
            <a:r>
              <a:t>Good day! Our system is LingkodBayan — a civic services portal that connects</a:t>
            </a:r>
          </a:p>
          <a:p>
            <a:r>
              <a:t>citizens with their local government. It lets residents submit service requests,</a:t>
            </a:r>
          </a:p>
          <a:p>
            <a:r>
              <a:t>file complaints, track progress, and read official announcements, while giving</a:t>
            </a:r>
          </a:p>
          <a:p>
            <a:r>
              <a:t>administrators one dashboard to manage everything.</a:t>
            </a:r>
          </a:p>
          <a:p/>
          <a:p>
            <a:r>
              <a:t>Say your name, course/section, and the repo (github.com/devmakiiiii/LingkodBayan).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— The Problem (45 seconds)</a:t>
            </a:r>
          </a:p>
          <a:p/>
          <a:p>
            <a:r>
              <a:t>Residents used to queue at the barangay office for simple things — water issues,</a:t>
            </a:r>
          </a:p>
          <a:p>
            <a:r>
              <a:t>waste collection, street repairs. Complaints had no transparent tracking, and</a:t>
            </a:r>
          </a:p>
          <a:p>
            <a:r>
              <a:t>announcements reached people inconsistently. Admins had no centralized tool.</a:t>
            </a:r>
          </a:p>
          <a:p/>
          <a:p>
            <a:r>
              <a:t>Key line: "Everything was paper-based, slow, and invisible to the resident."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— The Solution (45 seconds)</a:t>
            </a:r>
          </a:p>
          <a:p/>
          <a:p>
            <a:r>
              <a:t>LingkodBayan digitizes the citizen–government interaction in one portal.</a:t>
            </a:r>
          </a:p>
          <a:p>
            <a:r>
              <a:t>Three audiences: the public can browse announcements and track submissions</a:t>
            </a:r>
          </a:p>
          <a:p>
            <a:r>
              <a:t>without an account; citizens get a full self-service portal; admins get a</a:t>
            </a:r>
          </a:p>
          <a:p>
            <a:r>
              <a:t>management dashboard.</a:t>
            </a:r>
          </a:p>
          <a:p/>
          <a:p>
            <a:r>
              <a:t>Mention: it's a real web app — responsive, works on phones.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— User Roles &amp; Access Control (1 minute)</a:t>
            </a:r>
          </a:p>
          <a:p/>
          <a:p>
            <a:r>
              <a:t>Access is enforced in two layers: `middleware.ts` redirects unauthorized</a:t>
            </a:r>
          </a:p>
          <a:p>
            <a:r>
              <a:t>users at the HTTP layer, and Row-Level Security in the database ensures a</a:t>
            </a:r>
          </a:p>
          <a:p>
            <a:r>
              <a:t>citizen's browser can only ever query their own rows — even if they bypass the UI.</a:t>
            </a:r>
          </a:p>
          <a:p/>
          <a:p>
            <a:r>
              <a:t>- Public → `/`, `/announcements`, `/track`</a:t>
            </a:r>
          </a:p>
          <a:p>
            <a:r>
              <a:t>- Citizen → `/citizen/*` (after email OTP sign-up + ID verification)</a:t>
            </a:r>
          </a:p>
          <a:p>
            <a:r>
              <a:t>- Admin → `/admin/*` (role granted only through trusted `app_metadata`)</a:t>
            </a:r>
          </a:p>
          <a:p/>
          <a:p>
            <a:r>
              <a:t>CS tie-in: Role-Based Access Control (RBAC) + database-level security policies.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— Citizen Features (1 minute)</a:t>
            </a:r>
          </a:p>
          <a:p/>
          <a:p>
            <a:r>
              <a:t>Walk through the list quickly:</a:t>
            </a:r>
          </a:p>
          <a:p>
            <a:r>
              <a:t>- Dashboard with statistics</a:t>
            </a:r>
          </a:p>
          <a:p>
            <a:r>
              <a:t>- Request a service (water, waste, street repair, health, education)</a:t>
            </a:r>
          </a:p>
          <a:p>
            <a:r>
              <a:t>- File a complaint with evidence and two-way messaging</a:t>
            </a:r>
          </a:p>
          <a:p>
            <a:r>
              <a:t>- Track status with SLA timers + in-app/SMS notifications (Semaphore)</a:t>
            </a:r>
          </a:p>
          <a:p>
            <a:r>
              <a:t>- ID verification — upload government ID, OCR processing</a:t>
            </a:r>
          </a:p>
          <a:p>
            <a:r>
              <a:t>- Proxy filing — authorize someone to file on your behalf</a:t>
            </a:r>
          </a:p>
          <a:p>
            <a:r>
              <a:t>- Announcements, document pickups, feedback, settings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— Admin Features (1 minute)</a:t>
            </a:r>
          </a:p>
          <a:p/>
          <a:p>
            <a:r>
              <a:t>- Dashboard &amp; analytics with a Leaflet heatmap of the barangay</a:t>
            </a:r>
          </a:p>
          <a:p>
            <a:r>
              <a:t>- Process requests/complaints through allowed status transitions</a:t>
            </a:r>
          </a:p>
          <a:p>
            <a:r>
              <a:t>- Verification queue — approve/reject resident IDs</a:t>
            </a:r>
          </a:p>
          <a:p>
            <a:r>
              <a:t>- Residents directory, purok manifest, pre-registered residents</a:t>
            </a:r>
          </a:p>
          <a:p>
            <a:r>
              <a:t>- Announcements, officials &amp; designations</a:t>
            </a:r>
          </a:p>
          <a:p>
            <a:r>
              <a:t>- Excel report export + audit logs for every admin action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— Live Demo Flow (1.5 minutes — or do a real demo)</a:t>
            </a:r>
          </a:p>
          <a:p/>
          <a:p>
            <a:r>
              <a:t>Narrate the pipeline:</a:t>
            </a:r>
          </a:p>
          <a:p/>
          <a:p>
            <a:r>
              <a:t>1. Citizen signs up → verifies email with a 6-digit OTP</a:t>
            </a:r>
          </a:p>
          <a:p>
            <a:r>
              <a:t>2. Uploads a government ID → OCR extracts text → fuzzy-matched against the registry</a:t>
            </a:r>
          </a:p>
          <a:p>
            <a:r>
              <a:t>3. Submits a service request (validated client and server side)</a:t>
            </a:r>
          </a:p>
          <a:p>
            <a:r>
              <a:t>4. Admin sees it, moves it `pending → processing → approved`</a:t>
            </a:r>
          </a:p>
          <a:p>
            <a:r>
              <a:t>5. Citizen gets notified and tracks it to completion — or anyone can track it</a:t>
            </a:r>
          </a:p>
          <a:p>
            <a:r>
              <a:t>publicly with the reference number, no login needed</a:t>
            </a:r>
          </a:p>
          <a:p/>
          <a:p>
            <a:r>
              <a:t>If demoing live: use the test accounts from `GETTING_STARTED.md`.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— Architecture (1 minute)</a:t>
            </a:r>
          </a:p>
          <a:p/>
          <a:p>
            <a:r>
              <a:t>It's a three-tier client–server architecture:</a:t>
            </a:r>
          </a:p>
          <a:p>
            <a:r>
              <a:t>the browser (React), the application server (Next.js API routes and</a:t>
            </a:r>
          </a:p>
          <a:p>
            <a:r>
              <a:t>middleware), and the data layer (Supabase — Postgres, Auth, Storage).</a:t>
            </a:r>
          </a:p>
          <a:p>
            <a:r>
              <a:t>Two optional external services: Semaphore for SMS and Vercel for hosting.</a:t>
            </a:r>
          </a:p>
          <a:p/>
          <a:p>
            <a:r>
              <a:t>Mention the request path: Browser → Next.js middleware (auth, CSRF, rate limit) →</a:t>
            </a:r>
          </a:p>
          <a:p>
            <a:r>
              <a:t>API route → Supabase (RLS check) → response → notification.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— Tech Stack (45 seconds)</a:t>
            </a:r>
          </a:p>
          <a:p/>
          <a:p>
            <a:r>
              <a:t>Frontend: Next.js 16, React 19, TypeScript, Tailwind CSS v4, shadcn/ui.</a:t>
            </a:r>
          </a:p>
          <a:p>
            <a:r>
              <a:t>Forms: React Hook Form + Zod validation.</a:t>
            </a:r>
          </a:p>
          <a:p>
            <a:r>
              <a:t>Backend: Supabase — Postgres with Row-Level Security, Auth, Storage.</a:t>
            </a:r>
          </a:p>
          <a:p>
            <a:r>
              <a:t>Deployed on Vercel via GitHub.</a:t>
            </a:r>
          </a:p>
          <a:p/>
          <a:p>
            <a:r>
              <a:t>Don't read the whole list — just highlight the big four.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— CS Concept: Finite State Machine (1 minute)</a:t>
            </a:r>
          </a:p>
          <a:p/>
          <a:p>
            <a:r>
              <a:t>Every request, complaint, and feedback lifecycle is modeled as a deterministic</a:t>
            </a:r>
          </a:p>
          <a:p>
            <a:r>
              <a:t>finite automaton — a set of states, an initial state, terminal states, and a</a:t>
            </a:r>
          </a:p>
          <a:p>
            <a:r>
              <a:t>transition relation, defined in `lib/status-machine.ts`.</a:t>
            </a:r>
          </a:p>
          <a:p/>
          <a:p>
            <a:r>
              <a:t>For a service request: `pending → processing → approved` or `rejected`.</a:t>
            </a:r>
          </a:p>
          <a:p>
            <a:r>
              <a:t>The UI only offers buttons for legal transitions, and the server rejects</a:t>
            </a:r>
          </a:p>
          <a:p>
            <a:r>
              <a:t>illegal ones — so an *approved* request can never jump back to *pending*.</a:t>
            </a:r>
          </a:p>
          <a:p>
            <a:r>
              <a:t>One authoritative guard, used by server actions, API routes, and the UI.</a:t>
            </a:r>
          </a:p>
          <a:p/>
          <a:p>
            <a:r>
              <a:t>Show the small state diagram on the slide.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— CS Concept: Algorithms &amp; Data Structures (1 minute)</a:t>
            </a:r>
          </a:p>
          <a:p/>
          <a:p>
            <a:r>
              <a:t>Levenshtein distance — a classic dynamic-programming algorithm — powers ID</a:t>
            </a:r>
          </a:p>
          <a:p>
            <a:r>
              <a:t>verification: when a resident uploads an ID, we compare their name against the</a:t>
            </a:r>
          </a:p>
          <a:p>
            <a:r>
              <a:t>pre-registered roster using edit-distance similarity plus phonetic (NYSIIS)</a:t>
            </a:r>
          </a:p>
          <a:p>
            <a:r>
              <a:t>matching, then a weighted score decides auto-verify, review, or rejection.</a:t>
            </a:r>
          </a:p>
          <a:p>
            <a:r>
              <a:t>Typos don't break verification.</a:t>
            </a:r>
          </a:p>
          <a:p/>
          <a:p>
            <a:r>
              <a:t>Data structures: HashMaps for O(1) rate-limit counters and lookups,</a:t>
            </a:r>
          </a:p>
          <a:p>
            <a:r>
              <a:t>HashSets for the XSS sanitizer allowlist and transition guards,</a:t>
            </a:r>
          </a:p>
          <a:p>
            <a:r>
              <a:t>and a job queue (Postgres-backed) for async OCR processing with polling.</a:t>
            </a:r>
          </a:p>
          <a:p/>
          <a:p>
            <a:r>
              <a:t>Complexity note if asked: Levenshtein is O(n×m) time and space.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— CS Concept: Security (1 minute)</a:t>
            </a:r>
          </a:p>
          <a:p/>
          <a:p>
            <a:r>
              <a:t>Layer them — this is your strongest section:</a:t>
            </a:r>
          </a:p>
          <a:p/>
          <a:p>
            <a:r>
              <a:t>1. Cryptography — AES-GCM encryption with random IVs, SHA-256 key derivation, bcrypt password hashing, CSPRNG tokens</a:t>
            </a:r>
          </a:p>
          <a:p>
            <a:r>
              <a:t>2. CSRF — 32-byte double-submit tokens; header must match cookie or HTTP 403</a:t>
            </a:r>
          </a:p>
          <a:p>
            <a:r>
              <a:t>3. RBAC — roles read only from `app_metadata`, which users can't edit (prevents self-promotion to admin)</a:t>
            </a:r>
          </a:p>
          <a:p>
            <a:r>
              <a:t>4. Row-Level Security — enforced inside the database itself</a:t>
            </a:r>
          </a:p>
          <a:p>
            <a:r>
              <a:t>5. Rate limiting — fixed-window counters, durable in Postgres so serverless cold resets can't bypass them</a:t>
            </a:r>
          </a:p>
          <a:p>
            <a:r>
              <a:t>6. XSS — HTML allowlist sanitizer</a:t>
            </a:r>
          </a:p>
          <a:p>
            <a:r>
              <a:t>7. PII hygiene — a DB trigger auto-deletes expired OCR rows (TTL/garbage collection)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— Testing &amp; Quality (45 seconds)</a:t>
            </a:r>
          </a:p>
          <a:p/>
          <a:p>
            <a:r>
              <a:t>- Unit tests on core logic (`pnpm test`, Node test runner)</a:t>
            </a:r>
          </a:p>
          <a:p>
            <a:r>
              <a:t>- Playwright E2E tests for public pages, auth guards, and citizen flows</a:t>
            </a:r>
          </a:p>
          <a:p>
            <a:r>
              <a:t>- axe-core WCAG 2.1 AA accessibility scans — serious violations fail the build</a:t>
            </a:r>
          </a:p>
          <a:p>
            <a:r>
              <a:t>- GitHub Actions CI runs everything on every push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— Results / Future Work / Close (45 seconds)</a:t>
            </a:r>
          </a:p>
          <a:p/>
          <a:p>
            <a:r>
              <a:t>Future improvements (pick 2–3):</a:t>
            </a:r>
          </a:p>
          <a:p>
            <a:r>
              <a:t>- Offline support via the existing service worker (network-first caching already shipped)</a:t>
            </a:r>
          </a:p>
          <a:p>
            <a:r>
              <a:t>- Map-based request clustering (Leaflet heatmap already in place)</a:t>
            </a:r>
          </a:p>
          <a:p>
            <a:r>
              <a:t>- Automated sync of the pre-registered roster from a national ID database</a:t>
            </a:r>
          </a:p>
          <a:p>
            <a:r>
              <a:t>- Mobile app / PWA notifications</a:t>
            </a:r>
          </a:p>
          <a:p/>
          <a:p>
            <a:r>
              <a:t>Close with:</a:t>
            </a:r>
          </a:p>
          <a:p/>
          <a:p>
            <a:r>
              <a:t>"LingkodBayan turns a paper-based barangay workflow into a transparent, secure,</a:t>
            </a:r>
          </a:p>
          <a:p>
            <a:r>
              <a:t>and accessible digital service — built on well-known computer science foundations:</a:t>
            </a:r>
          </a:p>
          <a:p>
            <a:r>
              <a:t>finite state machines, dynamic programming, cryptography, and access-control theory.</a:t>
            </a:r>
          </a:p>
          <a:p>
            <a:r>
              <a:t>Thank you!"</a:t>
            </a:r>
          </a:p>
          <a:p/>
          <a:p>
            <a:r>
              <a:t>---</a:t>
            </a:r>
          </a:p>
          <a:p/>
          <a:p>
            <a:r>
              <a:t>## Anticipated Q&amp;A</a:t>
            </a:r>
          </a:p>
          <a:p/>
          <a:p>
            <a:r>
              <a:t>Q: Why Supabase instead of a custom backend?</a:t>
            </a:r>
          </a:p>
          <a:p>
            <a:r>
              <a:t>A: It provides Postgres + Auth + Storage with Row-Level Security built in — security is enforced at the database, not just the UI. Fewer moving parts, still standard SQL.</a:t>
            </a:r>
          </a:p>
          <a:p/>
          <a:p>
            <a:r>
              <a:t>Q: What happens if someone forges an admin role?</a:t>
            </a:r>
          </a:p>
          <a:p>
            <a:r>
              <a:t>A: Roles are read from `app_metadata`, which only the server can write. Migration 39 also hardened the SQL function `is_admin_user()` so the browser client can't act on a forged claim either.</a:t>
            </a:r>
          </a:p>
          <a:p/>
          <a:p>
            <a:r>
              <a:t>Q: How does verification avoid false positives?</a:t>
            </a:r>
          </a:p>
          <a:p>
            <a:r>
              <a:t>A: Exact matches (email/phone/national ID) score highest; names use max(Levenshtein, phonetic) similarity with weighted scoring — borderline cases go to `needs_review` for a human admin.</a:t>
            </a:r>
          </a:p>
          <a:p/>
          <a:p>
            <a:r>
              <a:t>Q: Is it scalable?</a:t>
            </a:r>
          </a:p>
          <a:p>
            <a:r>
              <a:t>A: Stateless serverless deployment on Vercel scales horizontally; rate limiting was moved to Postgres because in-memory state resets between serverless instances.</a:t>
            </a:r>
          </a:p>
          <a:p/>
          <a:p>
            <a:r>
              <a:t>Q: Why FSM instead of just an enum?</a:t>
            </a:r>
          </a:p>
          <a:p>
            <a:r>
              <a:t>A: An enum only defines valid values; an FSM defines valid *changes*. Illegal transitions are rejected in one place instead of ad-hoc checks scattered across the code.</a:t>
            </a:r>
          </a:p>
          <a:p/>
          <a:p>
            <a:r>
              <a:t>Q: How do you protect citizen data (PII)?</a:t>
            </a:r>
          </a:p>
          <a:p>
            <a:r>
              <a:t>A: RLS, AES-GCM encryption of sensitive fields, private storage buckets with signed URLs, HTML sanitization, audit logging, and automatic deletion of expired OCR data via a database trigger.</a:t>
            </a:r>
          </a:p>
          <a:p/>
          <a:p/>
          <a:p>
            <a:r>
              <a:t>It's a three-tier client–server architecture:</a:t>
            </a:r>
          </a:p>
          <a:p>
            <a:r>
              <a:t>the browser (React), the application server (Next.js API routes and</a:t>
            </a:r>
          </a:p>
          <a:p>
            <a:r>
              <a:t>middleware), and the data layer (Supabase — Postgres, Auth, Storage).</a:t>
            </a:r>
          </a:p>
          <a:p>
            <a:r>
              <a:t>Two optional external services: Semaphore for SMS and Vercel for hosting.</a:t>
            </a:r>
          </a:p>
          <a:p/>
          <a:p>
            <a:r>
              <a:t>Mention the request path: Browser → Next.js middleware (auth, CSRF, rate limit) →</a:t>
            </a:r>
          </a:p>
          <a:p>
            <a:r>
              <a:t>API route → Supabase (RLS check) → response → notification.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38BDF8"/>
                </a:solidFill>
                <a:latin typeface="Segoe UI"/>
              </a:rPr>
              <a:t>LingkodBayan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94A3B8"/>
                </a:solidFill>
                <a:latin typeface="Segoe UI"/>
              </a:rPr>
              <a:t>A Civic Services Portal for Connecting Citizens with Local Government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67E8F9"/>
                </a:solidFill>
                <a:latin typeface="Segoe UI"/>
              </a:rPr>
              <a:t>Next.js 16   ·   React 19   ·   TypeScript   ·   Supabase   ·   Vercel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Segoe UI"/>
              </a:rPr>
              <a:t>Student Presentation · github.com/devmakiiiii/LingkodBayan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LingkodBayan — Civic Services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Segoe U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solidFill>
                  <a:srgbClr val="94A3B8"/>
                </a:solidFill>
                <a:latin typeface="Segoe UI"/>
              </a:rPr>
              <a:t>01  </a:t>
            </a:r>
            <a:r>
              <a:rPr sz="3400" b="1">
                <a:solidFill>
                  <a:srgbClr val="38BDF8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>
                <a:solidFill>
                  <a:srgbClr val="E2E8F0"/>
                </a:solidFill>
                <a:latin typeface="Segoe UI"/>
              </a:rPr>
              <a:t>• Citizens must </a:t>
            </a:r>
            <a:r>
              <a:rPr sz="2000" b="1">
                <a:solidFill>
                  <a:srgbClr val="38BDF8"/>
                </a:solidFill>
                <a:latin typeface="Segoe UI"/>
              </a:rPr>
              <a:t>queue in person</a:t>
            </a:r>
            <a:r>
              <a:rPr sz="2000" b="0">
                <a:solidFill>
                  <a:srgbClr val="E2E8F0"/>
                </a:solidFill>
                <a:latin typeface="Segoe UI"/>
              </a:rPr>
              <a:t> for simple services — water, waste, street repairs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E2E8F0"/>
                </a:solidFill>
                <a:latin typeface="Segoe UI"/>
              </a:rPr>
              <a:t>• Complaints have </a:t>
            </a:r>
            <a:r>
              <a:rPr sz="2000" b="1">
                <a:solidFill>
                  <a:srgbClr val="38BDF8"/>
                </a:solidFill>
                <a:latin typeface="Segoe UI"/>
              </a:rPr>
              <a:t>no transparent tracking</a:t>
            </a:r>
            <a:r>
              <a:rPr sz="2000" b="0">
                <a:solidFill>
                  <a:srgbClr val="E2E8F0"/>
                </a:solidFill>
                <a:latin typeface="Segoe UI"/>
              </a:rPr>
              <a:t> — "did anyone even read it?"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E2E8F0"/>
                </a:solidFill>
                <a:latin typeface="Segoe UI"/>
              </a:rPr>
              <a:t>• Announcements reach residents </a:t>
            </a:r>
            <a:r>
              <a:rPr sz="2000" b="1">
                <a:solidFill>
                  <a:srgbClr val="38BDF8"/>
                </a:solidFill>
                <a:latin typeface="Segoe UI"/>
              </a:rPr>
              <a:t>inconsistently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E2E8F0"/>
                </a:solidFill>
                <a:latin typeface="Segoe UI"/>
              </a:rPr>
              <a:t>• Admins manage everything with </a:t>
            </a:r>
            <a:r>
              <a:rPr sz="2000" b="1">
                <a:solidFill>
                  <a:srgbClr val="38BDF8"/>
                </a:solidFill>
                <a:latin typeface="Segoe UI"/>
              </a:rPr>
              <a:t>paper and spreadsheets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C55E"/>
                </a:solidFill>
                <a:latin typeface="Segoe UI"/>
              </a:rPr>
              <a:t>Everything was paper-based, slow, and invisible to the resident.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LingkodBayan — Civic Services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Segoe U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solidFill>
                  <a:srgbClr val="94A3B8"/>
                </a:solidFill>
                <a:latin typeface="Segoe UI"/>
              </a:rPr>
              <a:t>02  </a:t>
            </a:r>
            <a:r>
              <a:rPr sz="3400" b="1">
                <a:solidFill>
                  <a:srgbClr val="38BDF8"/>
                </a:solidFill>
                <a:latin typeface="Segoe UI"/>
              </a:rPr>
              <a:t>The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54480"/>
            <a:ext cx="512064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28600" tIns="201168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Segoe UI"/>
              </a:rPr>
              <a:t>For Citizens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• Request services &amp; complaints online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• Track status in real time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• Read official announcements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• Get notified (in-app + SMS)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12064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28600" tIns="201168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Segoe UI"/>
              </a:rPr>
              <a:t>For Administrators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• One dashboard for all submissions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• Process requests &amp; complaints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• Manage residents &amp; announcements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• Reports + full audit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94A3B8"/>
                </a:solidFill>
                <a:latin typeface="Segoe UI"/>
              </a:rPr>
              <a:t>Public users can also </a:t>
            </a:r>
            <a:r>
              <a:rPr sz="1700" b="1">
                <a:solidFill>
                  <a:srgbClr val="38BDF8"/>
                </a:solidFill>
                <a:latin typeface="Segoe UI"/>
              </a:rPr>
              <a:t>track submissions</a:t>
            </a:r>
            <a:r>
              <a:rPr sz="1700" b="0">
                <a:solidFill>
                  <a:srgbClr val="94A3B8"/>
                </a:solidFill>
                <a:latin typeface="Segoe UI"/>
              </a:rPr>
              <a:t> and read announcements </a:t>
            </a:r>
            <a:r>
              <a:rPr sz="1700" b="1">
                <a:solidFill>
                  <a:srgbClr val="38BDF8"/>
                </a:solidFill>
                <a:latin typeface="Segoe UI"/>
              </a:rPr>
              <a:t>without an account</a:t>
            </a:r>
            <a:r>
              <a:rPr sz="1700" b="0">
                <a:solidFill>
                  <a:srgbClr val="94A3B8"/>
                </a:solidFill>
                <a:latin typeface="Segoe U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LingkodBayan — Civic Services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Segoe U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solidFill>
                  <a:srgbClr val="94A3B8"/>
                </a:solidFill>
                <a:latin typeface="Segoe UI"/>
              </a:rPr>
              <a:t>03  </a:t>
            </a:r>
            <a:r>
              <a:rPr sz="3400" b="1">
                <a:solidFill>
                  <a:srgbClr val="38BDF8"/>
                </a:solidFill>
                <a:latin typeface="Segoe UI"/>
              </a:rPr>
              <a:t>Roles &amp; Access Control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645920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97680"/>
                <a:gridCol w="3840480"/>
              </a:tblGrid>
              <a:tr h="594360">
                <a:tc>
                  <a:txBody>
                    <a:bodyPr lIns="137160"/>
                    <a:lstStyle/>
                    <a:p>
                      <a:r>
                        <a:rPr sz="1600" b="1">
                          <a:solidFill>
                            <a:srgbClr val="38BDF8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600" b="1">
                          <a:solidFill>
                            <a:srgbClr val="38BDF8"/>
                          </a:solidFill>
                          <a:latin typeface="Segoe UI"/>
                        </a:rPr>
                        <a:t>Access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600" b="1">
                          <a:solidFill>
                            <a:srgbClr val="38BDF8"/>
                          </a:solidFill>
                          <a:latin typeface="Segoe UI"/>
                        </a:rPr>
                        <a:t>Enforcement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 lIns="137160"/>
                    <a:lstStyle/>
                    <a:p>
                      <a:r>
                        <a:rPr sz="1600" b="1">
                          <a:solidFill>
                            <a:srgbClr val="22C55E"/>
                          </a:solidFill>
                          <a:latin typeface="Segoe UI"/>
                        </a:rPr>
                        <a:t>Public (guest)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600">
                          <a:solidFill>
                            <a:srgbClr val="E2E8F0"/>
                          </a:solidFill>
                          <a:latin typeface="Segoe UI"/>
                        </a:rPr>
                        <a:t>Landing, announcements, tracking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600">
                          <a:solidFill>
                            <a:srgbClr val="E2E8F0"/>
                          </a:solidFill>
                          <a:latin typeface="Segoe UI"/>
                        </a:rPr>
                        <a:t>Open routes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 lIns="137160"/>
                    <a:lstStyle/>
                    <a:p>
                      <a:r>
                        <a:rPr sz="1600" b="1">
                          <a:solidFill>
                            <a:srgbClr val="22C55E"/>
                          </a:solidFill>
                          <a:latin typeface="Segoe UI"/>
                        </a:rPr>
                        <a:t>Citizen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600">
                          <a:solidFill>
                            <a:srgbClr val="E2E8F0"/>
                          </a:solidFill>
                          <a:latin typeface="Segoe UI"/>
                        </a:rPr>
                        <a:t>/citizen/* portal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600">
                          <a:solidFill>
                            <a:srgbClr val="E2E8F0"/>
                          </a:solidFill>
                          <a:latin typeface="Segoe UI"/>
                        </a:rPr>
                        <a:t>Email OTP + ID verification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 lIns="137160"/>
                    <a:lstStyle/>
                    <a:p>
                      <a:r>
                        <a:rPr sz="1600" b="1">
                          <a:solidFill>
                            <a:srgbClr val="22C55E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600">
                          <a:solidFill>
                            <a:srgbClr val="E2E8F0"/>
                          </a:solidFill>
                          <a:latin typeface="Segoe UI"/>
                        </a:rPr>
                        <a:t>/admin/* dashboard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lIns="137160"/>
                    <a:lstStyle/>
                    <a:p>
                      <a:r>
                        <a:rPr sz="1600">
                          <a:solidFill>
                            <a:srgbClr val="E2E8F0"/>
                          </a:solidFill>
                          <a:latin typeface="Segoe UI"/>
                        </a:rPr>
                        <a:t>Trusted app_metadata role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389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2E8F0"/>
                </a:solidFill>
                <a:latin typeface="Segoe UI"/>
              </a:rPr>
              <a:t>Two layers: </a:t>
            </a:r>
            <a:r>
              <a:rPr sz="1800" b="1">
                <a:solidFill>
                  <a:srgbClr val="38BDF8"/>
                </a:solidFill>
                <a:latin typeface="Segoe UI"/>
              </a:rPr>
              <a:t>middleware redirects</a:t>
            </a:r>
            <a:r>
              <a:rPr sz="1800" b="0">
                <a:solidFill>
                  <a:srgbClr val="E2E8F0"/>
                </a:solidFill>
                <a:latin typeface="Segoe UI"/>
              </a:rPr>
              <a:t> at the HTTP layer + </a:t>
            </a:r>
            <a:r>
              <a:rPr sz="1800" b="1">
                <a:solidFill>
                  <a:srgbClr val="38BDF8"/>
                </a:solidFill>
                <a:latin typeface="Segoe UI"/>
              </a:rPr>
              <a:t>Row-Level Security</a:t>
            </a:r>
            <a:r>
              <a:rPr sz="1800" b="0">
                <a:solidFill>
                  <a:srgbClr val="E2E8F0"/>
                </a:solidFill>
                <a:latin typeface="Segoe UI"/>
              </a:rPr>
              <a:t> inside the database — even bypassing the UI, a citizen can only query their own rows.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solidFill>
                  <a:srgbClr val="94A3B8"/>
                </a:solidFill>
                <a:latin typeface="Segoe UI"/>
              </a:rPr>
              <a:t>04  </a:t>
            </a:r>
            <a:r>
              <a:rPr sz="3400" b="1">
                <a:solidFill>
                  <a:srgbClr val="38BDF8"/>
                </a:solidFill>
                <a:latin typeface="Segoe UI"/>
              </a:rPr>
              <a:t>Citizen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E2E8F0"/>
                </a:solidFill>
                <a:latin typeface="Segoe UI"/>
              </a:rPr>
              <a:t>• </a:t>
            </a:r>
            <a:r>
              <a:rPr sz="1600" b="1">
                <a:solidFill>
                  <a:srgbClr val="38BDF8"/>
                </a:solidFill>
                <a:latin typeface="Segoe UI"/>
              </a:rPr>
              <a:t>Dashboard</a:t>
            </a:r>
            <a:r>
              <a:rPr sz="1600" b="0">
                <a:solidFill>
                  <a:srgbClr val="E2E8F0"/>
                </a:solidFill>
                <a:latin typeface="Segoe UI"/>
              </a:rPr>
              <a:t> — statistics &amp; recent activity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E2E8F0"/>
                </a:solidFill>
                <a:latin typeface="Segoe UI"/>
              </a:rPr>
              <a:t>• </a:t>
            </a:r>
            <a:r>
              <a:rPr sz="1600" b="1">
                <a:solidFill>
                  <a:srgbClr val="38BDF8"/>
                </a:solidFill>
                <a:latin typeface="Segoe UI"/>
              </a:rPr>
              <a:t>Request a Service</a:t>
            </a:r>
            <a:r>
              <a:rPr sz="1600" b="0">
                <a:solidFill>
                  <a:srgbClr val="E2E8F0"/>
                </a:solidFill>
                <a:latin typeface="Segoe UI"/>
              </a:rPr>
              <a:t> — water, waste, street, health, education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E2E8F0"/>
                </a:solidFill>
                <a:latin typeface="Segoe UI"/>
              </a:rPr>
              <a:t>• </a:t>
            </a:r>
            <a:r>
              <a:rPr sz="1600" b="1">
                <a:solidFill>
                  <a:srgbClr val="38BDF8"/>
                </a:solidFill>
                <a:latin typeface="Segoe UI"/>
              </a:rPr>
              <a:t>File a Complaint</a:t>
            </a:r>
            <a:r>
              <a:rPr sz="1600" b="0">
                <a:solidFill>
                  <a:srgbClr val="E2E8F0"/>
                </a:solidFill>
                <a:latin typeface="Segoe UI"/>
              </a:rPr>
              <a:t> — evidence upload + two-way messaging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E2E8F0"/>
                </a:solidFill>
                <a:latin typeface="Segoe UI"/>
              </a:rPr>
              <a:t>• </a:t>
            </a:r>
            <a:r>
              <a:rPr sz="1600" b="1">
                <a:solidFill>
                  <a:srgbClr val="38BDF8"/>
                </a:solidFill>
                <a:latin typeface="Segoe UI"/>
              </a:rPr>
              <a:t>My Requests / Complaints</a:t>
            </a:r>
            <a:r>
              <a:rPr sz="1600" b="0">
                <a:solidFill>
                  <a:srgbClr val="E2E8F0"/>
                </a:solidFill>
                <a:latin typeface="Segoe UI"/>
              </a:rPr>
              <a:t> — status tracking with SLA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E2E8F0"/>
                </a:solidFill>
                <a:latin typeface="Segoe UI"/>
              </a:rPr>
              <a:t>• </a:t>
            </a:r>
            <a:r>
              <a:rPr sz="1600" b="1">
                <a:solidFill>
                  <a:srgbClr val="38BDF8"/>
                </a:solidFill>
                <a:latin typeface="Segoe UI"/>
              </a:rPr>
              <a:t>ID Verification</a:t>
            </a:r>
            <a:r>
              <a:rPr sz="1600" b="0">
                <a:solidFill>
                  <a:srgbClr val="E2E8F0"/>
                </a:solidFill>
                <a:latin typeface="Segoe UI"/>
              </a:rPr>
              <a:t> — upload government ID, OCR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E2E8F0"/>
                </a:solidFill>
                <a:latin typeface="Segoe UI"/>
              </a:rPr>
              <a:t>• </a:t>
            </a:r>
            <a:r>
              <a:rPr sz="1600" b="1">
                <a:solidFill>
                  <a:srgbClr val="38BDF8"/>
                </a:solidFill>
                <a:latin typeface="Segoe UI"/>
              </a:rPr>
              <a:t>Proxy Filing</a:t>
            </a:r>
            <a:r>
              <a:rPr sz="1600" b="0">
                <a:solidFill>
                  <a:srgbClr val="E2E8F0"/>
                </a:solidFill>
                <a:latin typeface="Segoe UI"/>
              </a:rPr>
              <a:t> — authorize another resident to file for you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E2E8F0"/>
                </a:solidFill>
                <a:latin typeface="Segoe UI"/>
              </a:rPr>
              <a:t>• </a:t>
            </a:r>
            <a:r>
              <a:rPr sz="1600" b="1">
                <a:solidFill>
                  <a:srgbClr val="38BDF8"/>
                </a:solidFill>
                <a:latin typeface="Segoe UI"/>
              </a:rPr>
              <a:t>Announcements</a:t>
            </a:r>
            <a:r>
              <a:rPr sz="1600" b="0">
                <a:solidFill>
                  <a:srgbClr val="E2E8F0"/>
                </a:solidFill>
                <a:latin typeface="Segoe UI"/>
              </a:rPr>
              <a:t> — official LGU updates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E2E8F0"/>
                </a:solidFill>
                <a:latin typeface="Segoe UI"/>
              </a:rPr>
              <a:t>• </a:t>
            </a:r>
            <a:r>
              <a:rPr sz="1600" b="1">
                <a:solidFill>
                  <a:srgbClr val="38BDF8"/>
                </a:solidFill>
                <a:latin typeface="Segoe UI"/>
              </a:rPr>
              <a:t>Document Pickups</a:t>
            </a:r>
            <a:r>
              <a:rPr sz="1600" b="0">
                <a:solidFill>
                  <a:srgbClr val="E2E8F0"/>
                </a:solidFill>
                <a:latin typeface="Segoe UI"/>
              </a:rPr>
              <a:t> — request &amp; schedule release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E2E8F0"/>
                </a:solidFill>
                <a:latin typeface="Segoe UI"/>
              </a:rPr>
              <a:t>• </a:t>
            </a:r>
            <a:r>
              <a:rPr sz="1600" b="1">
                <a:solidFill>
                  <a:srgbClr val="38BDF8"/>
                </a:solidFill>
                <a:latin typeface="Segoe UI"/>
              </a:rPr>
              <a:t>Notifications</a:t>
            </a:r>
            <a:r>
              <a:rPr sz="1600" b="0">
                <a:solidFill>
                  <a:srgbClr val="E2E8F0"/>
                </a:solidFill>
                <a:latin typeface="Segoe UI"/>
              </a:rPr>
              <a:t> — in-app + SMS via Semaphore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E2E8F0"/>
                </a:solidFill>
                <a:latin typeface="Segoe UI"/>
              </a:rPr>
              <a:t>• </a:t>
            </a:r>
            <a:r>
              <a:rPr sz="1600" b="1">
                <a:solidFill>
                  <a:srgbClr val="38BDF8"/>
                </a:solidFill>
                <a:latin typeface="Segoe UI"/>
              </a:rPr>
              <a:t>Feedback &amp; Settings</a:t>
            </a:r>
            <a:r>
              <a:rPr sz="1600" b="0">
                <a:solidFill>
                  <a:srgbClr val="E2E8F0"/>
                </a:solidFill>
                <a:latin typeface="Segoe UI"/>
              </a:rPr>
              <a:t> — language, preferences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LingkodBayan — Civic Services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Segoe U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solidFill>
                  <a:srgbClr val="94A3B8"/>
                </a:solidFill>
                <a:latin typeface="Segoe UI"/>
              </a:rPr>
              <a:t>05  </a:t>
            </a:r>
            <a:r>
              <a:rPr sz="3400" b="1">
                <a:solidFill>
                  <a:srgbClr val="38BDF8"/>
                </a:solidFill>
                <a:latin typeface="Segoe UI"/>
              </a:rPr>
              <a:t>Admin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</a:t>
            </a:r>
            <a:r>
              <a:rPr sz="1700" b="1">
                <a:solidFill>
                  <a:srgbClr val="38BDF8"/>
                </a:solidFill>
                <a:latin typeface="Segoe UI"/>
              </a:rPr>
              <a:t>Dashboard &amp; Analytics</a:t>
            </a:r>
            <a:r>
              <a:rPr sz="1700" b="0">
                <a:solidFill>
                  <a:srgbClr val="E2E8F0"/>
                </a:solidFill>
                <a:latin typeface="Segoe UI"/>
              </a:rPr>
              <a:t> — Leaflet heatmap of the barangay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</a:t>
            </a:r>
            <a:r>
              <a:rPr sz="1700" b="1">
                <a:solidFill>
                  <a:srgbClr val="38BDF8"/>
                </a:solidFill>
                <a:latin typeface="Segoe UI"/>
              </a:rPr>
              <a:t>Requests / Complaints</a:t>
            </a:r>
            <a:r>
              <a:rPr sz="1700" b="0">
                <a:solidFill>
                  <a:srgbClr val="E2E8F0"/>
                </a:solidFill>
                <a:latin typeface="Segoe UI"/>
              </a:rPr>
              <a:t> — process via allowed transitions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</a:t>
            </a:r>
            <a:r>
              <a:rPr sz="1700" b="1">
                <a:solidFill>
                  <a:srgbClr val="38BDF8"/>
                </a:solidFill>
                <a:latin typeface="Segoe UI"/>
              </a:rPr>
              <a:t>Verification Queue</a:t>
            </a:r>
            <a:r>
              <a:rPr sz="1700" b="0">
                <a:solidFill>
                  <a:srgbClr val="E2E8F0"/>
                </a:solidFill>
                <a:latin typeface="Segoe UI"/>
              </a:rPr>
              <a:t> — approve/reject resident IDs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</a:t>
            </a:r>
            <a:r>
              <a:rPr sz="1700" b="1">
                <a:solidFill>
                  <a:srgbClr val="38BDF8"/>
                </a:solidFill>
                <a:latin typeface="Segoe UI"/>
              </a:rPr>
              <a:t>Residents Directory</a:t>
            </a:r>
            <a:r>
              <a:rPr sz="1700" b="0">
                <a:solidFill>
                  <a:srgbClr val="E2E8F0"/>
                </a:solidFill>
                <a:latin typeface="Segoe UI"/>
              </a:rPr>
              <a:t> — residents, pre-registered, purok manifest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</a:t>
            </a:r>
            <a:r>
              <a:rPr sz="1700" b="1">
                <a:solidFill>
                  <a:srgbClr val="38BDF8"/>
                </a:solidFill>
                <a:latin typeface="Segoe UI"/>
              </a:rPr>
              <a:t>Announcements</a:t>
            </a:r>
            <a:r>
              <a:rPr sz="1700" b="0">
                <a:solidFill>
                  <a:srgbClr val="E2E8F0"/>
                </a:solidFill>
                <a:latin typeface="Segoe UI"/>
              </a:rPr>
              <a:t> — publish with images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</a:t>
            </a:r>
            <a:r>
              <a:rPr sz="1700" b="1">
                <a:solidFill>
                  <a:srgbClr val="38BDF8"/>
                </a:solidFill>
                <a:latin typeface="Segoe UI"/>
              </a:rPr>
              <a:t>Officials &amp; Designations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</a:t>
            </a:r>
            <a:r>
              <a:rPr sz="1700" b="1">
                <a:solidFill>
                  <a:srgbClr val="38BDF8"/>
                </a:solidFill>
                <a:latin typeface="Segoe UI"/>
              </a:rPr>
              <a:t>Reports</a:t>
            </a:r>
            <a:r>
              <a:rPr sz="1700" b="0">
                <a:solidFill>
                  <a:srgbClr val="E2E8F0"/>
                </a:solidFill>
                <a:latin typeface="Segoe UI"/>
              </a:rPr>
              <a:t> — Excel export via ExcelJS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</a:t>
            </a:r>
            <a:r>
              <a:rPr sz="1700" b="1">
                <a:solidFill>
                  <a:srgbClr val="38BDF8"/>
                </a:solidFill>
                <a:latin typeface="Segoe UI"/>
              </a:rPr>
              <a:t>Audit Logs</a:t>
            </a:r>
            <a:r>
              <a:rPr sz="1700" b="0">
                <a:solidFill>
                  <a:srgbClr val="E2E8F0"/>
                </a:solidFill>
                <a:latin typeface="Segoe UI"/>
              </a:rPr>
              <a:t> — every admin action recorded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LingkodBayan — Civic Services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Segoe U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solidFill>
                  <a:srgbClr val="94A3B8"/>
                </a:solidFill>
                <a:latin typeface="Segoe UI"/>
              </a:rPr>
              <a:t>06  </a:t>
            </a:r>
            <a:r>
              <a:rPr sz="3400" b="1">
                <a:solidFill>
                  <a:srgbClr val="38BDF8"/>
                </a:solidFill>
                <a:latin typeface="Segoe UI"/>
              </a:rPr>
              <a:t>How a Request Flows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920240"/>
            <a:ext cx="2377440" cy="685800"/>
          </a:xfrm>
          <a:prstGeom prst="roundRect">
            <a:avLst>
              <a:gd name="adj" fmla="val 50000"/>
            </a:avLst>
          </a:prstGeom>
          <a:solidFill>
            <a:srgbClr val="0C4A6E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400" b="1">
                <a:solidFill>
                  <a:srgbClr val="E2E8F0"/>
                </a:solidFill>
                <a:latin typeface="Segoe UI"/>
              </a:rPr>
              <a:t>Sign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920240"/>
            <a:ext cx="411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>
                <a:solidFill>
                  <a:srgbClr val="38BDF8"/>
                </a:solidFill>
                <a:latin typeface="Segoe UI"/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1920240"/>
            <a:ext cx="2377440" cy="685800"/>
          </a:xfrm>
          <a:prstGeom prst="roundRect">
            <a:avLst>
              <a:gd name="adj" fmla="val 50000"/>
            </a:avLst>
          </a:prstGeom>
          <a:solidFill>
            <a:srgbClr val="0C4A6E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400" b="1">
                <a:solidFill>
                  <a:srgbClr val="E2E8F0"/>
                </a:solidFill>
                <a:latin typeface="Segoe UI"/>
              </a:rPr>
              <a:t>Email OTP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920240"/>
            <a:ext cx="411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>
                <a:solidFill>
                  <a:srgbClr val="38BDF8"/>
                </a:solidFill>
                <a:latin typeface="Segoe U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2377440" cy="685800"/>
          </a:xfrm>
          <a:prstGeom prst="roundRect">
            <a:avLst>
              <a:gd name="adj" fmla="val 50000"/>
            </a:avLst>
          </a:prstGeom>
          <a:solidFill>
            <a:srgbClr val="0C4A6E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400" b="1">
                <a:solidFill>
                  <a:srgbClr val="E2E8F0"/>
                </a:solidFill>
                <a:latin typeface="Segoe UI"/>
              </a:rPr>
              <a:t>Verify ID (OCR)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920240"/>
            <a:ext cx="411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>
                <a:solidFill>
                  <a:srgbClr val="38BDF8"/>
                </a:solidFill>
                <a:latin typeface="Segoe U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1920240"/>
            <a:ext cx="2377440" cy="685800"/>
          </a:xfrm>
          <a:prstGeom prst="roundRect">
            <a:avLst>
              <a:gd name="adj" fmla="val 50000"/>
            </a:avLst>
          </a:prstGeom>
          <a:solidFill>
            <a:srgbClr val="0C4A6E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400" b="1">
                <a:solidFill>
                  <a:srgbClr val="E2E8F0"/>
                </a:solidFill>
                <a:latin typeface="Segoe UI"/>
              </a:rPr>
              <a:t>Submit Request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00400"/>
            <a:ext cx="2377440" cy="685800"/>
          </a:xfrm>
          <a:prstGeom prst="roundRect">
            <a:avLst>
              <a:gd name="adj" fmla="val 50000"/>
            </a:avLst>
          </a:prstGeom>
          <a:solidFill>
            <a:srgbClr val="0C4A6E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400" b="1">
                <a:solidFill>
                  <a:srgbClr val="E2E8F0"/>
                </a:solidFill>
                <a:latin typeface="Segoe UI"/>
              </a:rPr>
              <a:t>Supabase + RLS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200400"/>
            <a:ext cx="411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>
                <a:solidFill>
                  <a:srgbClr val="38BDF8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3200400"/>
            <a:ext cx="2377440" cy="685800"/>
          </a:xfrm>
          <a:prstGeom prst="roundRect">
            <a:avLst>
              <a:gd name="adj" fmla="val 50000"/>
            </a:avLst>
          </a:prstGeom>
          <a:solidFill>
            <a:srgbClr val="0C4A6E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400" b="1">
                <a:solidFill>
                  <a:srgbClr val="E2E8F0"/>
                </a:solidFill>
                <a:latin typeface="Segoe UI"/>
              </a:rPr>
              <a:t>Admin Processes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200400"/>
            <a:ext cx="411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>
                <a:solidFill>
                  <a:srgbClr val="38BDF8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00400"/>
            <a:ext cx="2377440" cy="685800"/>
          </a:xfrm>
          <a:prstGeom prst="roundRect">
            <a:avLst>
              <a:gd name="adj" fmla="val 50000"/>
            </a:avLst>
          </a:prstGeom>
          <a:solidFill>
            <a:srgbClr val="0C4A6E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400" b="1">
                <a:solidFill>
                  <a:srgbClr val="E2E8F0"/>
                </a:solidFill>
                <a:latin typeface="Segoe UI"/>
              </a:rPr>
              <a:t>Notify (SMS)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200400"/>
            <a:ext cx="411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>
                <a:solidFill>
                  <a:srgbClr val="38BDF8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3200400"/>
            <a:ext cx="2377440" cy="685800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400" b="1">
                <a:solidFill>
                  <a:srgbClr val="E2E8F0"/>
                </a:solidFill>
                <a:latin typeface="Segoe UI"/>
              </a:rPr>
              <a:t>Resolved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2E8F0"/>
                </a:solidFill>
                <a:latin typeface="Segoe UI"/>
              </a:rPr>
              <a:t>Anyone can track progress publicly at </a:t>
            </a:r>
            <a:r>
              <a:rPr sz="1800" b="1">
                <a:solidFill>
                  <a:srgbClr val="38BDF8"/>
                </a:solidFill>
                <a:latin typeface="Segoe UI"/>
              </a:rPr>
              <a:t>/track</a:t>
            </a:r>
            <a:r>
              <a:rPr sz="1800" b="0">
                <a:solidFill>
                  <a:srgbClr val="E2E8F0"/>
                </a:solidFill>
                <a:latin typeface="Segoe UI"/>
              </a:rPr>
              <a:t> with a reference number — </a:t>
            </a:r>
            <a:r>
              <a:rPr sz="1800" b="1">
                <a:solidFill>
                  <a:srgbClr val="38BDF8"/>
                </a:solidFill>
                <a:latin typeface="Segoe UI"/>
              </a:rPr>
              <a:t>no login required</a:t>
            </a:r>
            <a:r>
              <a:rPr sz="1800" b="0">
                <a:solidFill>
                  <a:srgbClr val="E2E8F0"/>
                </a:solidFill>
                <a:latin typeface="Segoe U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LingkodBayan — Civic Services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Segoe U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solidFill>
                  <a:srgbClr val="94A3B8"/>
                </a:solidFill>
                <a:latin typeface="Segoe UI"/>
              </a:rPr>
              <a:t>07  </a:t>
            </a:r>
            <a:r>
              <a:rPr sz="3400" b="1">
                <a:solidFill>
                  <a:srgbClr val="38BDF8"/>
                </a:solidFill>
                <a:latin typeface="Segoe UI"/>
              </a:rP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63040"/>
            <a:ext cx="1051560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28600" tIns="201168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22C55E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00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8BDF8"/>
                </a:solidFill>
                <a:latin typeface="Segoe UI"/>
              </a:rPr>
              <a:t>Client</a:t>
            </a:r>
            <a:r>
              <a:rPr sz="1700" b="0">
                <a:solidFill>
                  <a:srgbClr val="E2E8F0"/>
                </a:solidFill>
                <a:latin typeface="Segoe UI"/>
              </a:rPr>
              <a:t> — Browser: React 19, Tailwind, shadcn/ui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Segoe UI"/>
              </a:rPr>
              <a:t>↕ HTTP requests (middleware: auth · CSRF · rate limit)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17520"/>
            <a:ext cx="1051560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28600" tIns="201168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22C55E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54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8BDF8"/>
                </a:solidFill>
                <a:latin typeface="Segoe UI"/>
              </a:rPr>
              <a:t>Server</a:t>
            </a:r>
            <a:r>
              <a:rPr sz="1700" b="0">
                <a:solidFill>
                  <a:srgbClr val="E2E8F0"/>
                </a:solidFill>
                <a:latin typeface="Segoe UI"/>
              </a:rPr>
              <a:t> — Next.js 16 App Router: API routes, server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69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Segoe UI"/>
              </a:rPr>
              <a:t>↕ Parameterized queries with Row-Level 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526280"/>
            <a:ext cx="1051560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28600" tIns="201168"/>
          <a:lstStyle/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22C55E"/>
                </a:solidFill>
                <a:latin typeface="Segoe U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8BDF8"/>
                </a:solidFill>
                <a:latin typeface="Segoe UI"/>
              </a:rPr>
              <a:t>Data</a:t>
            </a:r>
            <a:r>
              <a:rPr sz="1700" b="0">
                <a:solidFill>
                  <a:srgbClr val="E2E8F0"/>
                </a:solidFill>
                <a:latin typeface="Segoe UI"/>
              </a:rPr>
              <a:t> — Supabase: Postgres + Auth +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94A3B8"/>
                </a:solidFill>
                <a:latin typeface="Segoe UI"/>
              </a:rPr>
              <a:t>External services: </a:t>
            </a:r>
            <a:r>
              <a:rPr sz="1500" b="1">
                <a:solidFill>
                  <a:srgbClr val="38BDF8"/>
                </a:solidFill>
                <a:latin typeface="Segoe UI"/>
              </a:rPr>
              <a:t>Semaphore</a:t>
            </a:r>
            <a:r>
              <a:rPr sz="1500" b="0">
                <a:solidFill>
                  <a:srgbClr val="94A3B8"/>
                </a:solidFill>
                <a:latin typeface="Segoe UI"/>
              </a:rPr>
              <a:t> (SMS) · </a:t>
            </a:r>
            <a:r>
              <a:rPr sz="1500" b="1">
                <a:solidFill>
                  <a:srgbClr val="38BDF8"/>
                </a:solidFill>
                <a:latin typeface="Segoe UI"/>
              </a:rPr>
              <a:t>Vercel</a:t>
            </a:r>
            <a:r>
              <a:rPr sz="1500" b="0">
                <a:solidFill>
                  <a:srgbClr val="94A3B8"/>
                </a:solidFill>
                <a:latin typeface="Segoe UI"/>
              </a:rPr>
              <a:t> (hosting + analytics)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LingkodBayan — Civic Services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Segoe U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solidFill>
                  <a:srgbClr val="94A3B8"/>
                </a:solidFill>
                <a:latin typeface="Segoe UI"/>
              </a:rPr>
              <a:t>08  </a:t>
            </a:r>
            <a:r>
              <a:rPr sz="3400" b="1">
                <a:solidFill>
                  <a:srgbClr val="38BDF8"/>
                </a:solidFill>
                <a:latin typeface="Segoe UI"/>
              </a:rPr>
              <a:t>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54480"/>
            <a:ext cx="5120640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28600" tIns="201168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Segoe UI"/>
              </a:rPr>
              <a:t>Frontend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• Next.js 16 (App Router)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• React 19 + TypeScript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• Tailwind CSS v4 + shadcn/ui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• React Hook Form + Zod validation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• Leaflet maps · TinyMCE editor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120640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28600" tIns="201168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Segoe UI"/>
              </a:rPr>
              <a:t>Backend &amp; Ops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• Supabase — Postgres, Auth, Storage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• Row-Level Security policies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• Semaphore SMS (optional)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• Vercel deployment (GitHub CI)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• Playwright + Node test runner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LingkodBayan — Civic Services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Segoe U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solidFill>
                  <a:srgbClr val="94A3B8"/>
                </a:solidFill>
                <a:latin typeface="Segoe UI"/>
              </a:rPr>
              <a:t>09  </a:t>
            </a:r>
            <a:r>
              <a:rPr sz="3400" b="1">
                <a:solidFill>
                  <a:srgbClr val="38BDF8"/>
                </a:solidFill>
                <a:latin typeface="Segoe UI"/>
              </a:rPr>
              <a:t>CS Concept: Finite State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2E8F0"/>
                </a:solidFill>
                <a:latin typeface="Segoe UI"/>
              </a:rPr>
              <a:t>lib/status-machine.ts — lifecycles modeled as </a:t>
            </a:r>
            <a:r>
              <a:rPr sz="1700" b="1">
                <a:solidFill>
                  <a:srgbClr val="38BDF8"/>
                </a:solidFill>
                <a:latin typeface="Segoe UI"/>
              </a:rPr>
              <a:t>deterministic finite automata</a:t>
            </a:r>
            <a:r>
              <a:rPr sz="1700" b="0">
                <a:solidFill>
                  <a:srgbClr val="E2E8F0"/>
                </a:solidFill>
                <a:latin typeface="Segoe UI"/>
              </a:rPr>
              <a:t>: states, initial state, terminal states, transition relation.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834640"/>
            <a:ext cx="2103120" cy="731520"/>
          </a:xfrm>
          <a:prstGeom prst="roundRect">
            <a:avLst>
              <a:gd name="adj" fmla="val 50000"/>
            </a:avLst>
          </a:prstGeom>
          <a:solidFill>
            <a:srgbClr val="0C4A6E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700" b="1">
                <a:solidFill>
                  <a:srgbClr val="E2E8F0"/>
                </a:solidFill>
                <a:latin typeface="Segoe UI"/>
              </a:rPr>
              <a:t>pending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83464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38BDF8"/>
                </a:solidFill>
                <a:latin typeface="Segoe UI"/>
              </a:rPr>
              <a:t>──▶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2834640"/>
            <a:ext cx="2103120" cy="731520"/>
          </a:xfrm>
          <a:prstGeom prst="roundRect">
            <a:avLst>
              <a:gd name="adj" fmla="val 50000"/>
            </a:avLst>
          </a:prstGeom>
          <a:solidFill>
            <a:srgbClr val="0C4A6E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700" b="1">
                <a:solidFill>
                  <a:srgbClr val="E2E8F0"/>
                </a:solidFill>
                <a:latin typeface="Segoe UI"/>
              </a:rPr>
              <a:t>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59" y="283464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38BDF8"/>
                </a:solidFill>
                <a:latin typeface="Segoe UI"/>
              </a:rPr>
              <a:t>──▶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834640"/>
            <a:ext cx="2103120" cy="731520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700" b="1">
                <a:solidFill>
                  <a:srgbClr val="E2E8F0"/>
                </a:solidFill>
                <a:latin typeface="Segoe UI"/>
              </a:rPr>
              <a:t>approved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59" y="2834640"/>
            <a:ext cx="640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rgbClr val="38BDF8"/>
                </a:solidFill>
                <a:latin typeface="Segoe UI"/>
              </a:rPr>
              <a:t>──▶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39" y="2834640"/>
            <a:ext cx="2103120" cy="731520"/>
          </a:xfrm>
          <a:prstGeom prst="roundRect">
            <a:avLst>
              <a:gd name="adj" fmla="val 50000"/>
            </a:avLst>
          </a:prstGeom>
          <a:solidFill>
            <a:srgbClr val="14532D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700" b="1">
                <a:solidFill>
                  <a:srgbClr val="E2E8F0"/>
                </a:solidFill>
                <a:latin typeface="Segoe UI"/>
              </a:rPr>
              <a:t>rejected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2E8F0"/>
                </a:solidFill>
                <a:latin typeface="Segoe UI"/>
              </a:rPr>
              <a:t>The UI only offers </a:t>
            </a:r>
            <a:r>
              <a:rPr sz="1700" b="1">
                <a:solidFill>
                  <a:srgbClr val="38BDF8"/>
                </a:solidFill>
                <a:latin typeface="Segoe UI"/>
              </a:rPr>
              <a:t>legal transitions</a:t>
            </a:r>
            <a:r>
              <a:rPr sz="1700" b="0">
                <a:solidFill>
                  <a:srgbClr val="E2E8F0"/>
                </a:solidFill>
                <a:latin typeface="Segoe UI"/>
              </a:rPr>
              <a:t>; the server rejects illegal ones (e.g. </a:t>
            </a:r>
            <a:r>
              <a:rPr sz="1700" b="1">
                <a:solidFill>
                  <a:srgbClr val="38BDF8"/>
                </a:solidFill>
                <a:latin typeface="Segoe UI"/>
              </a:rPr>
              <a:t>approved → pending</a:t>
            </a:r>
            <a:r>
              <a:rPr sz="1700" b="0">
                <a:solidFill>
                  <a:srgbClr val="E2E8F0"/>
                </a:solidFill>
                <a:latin typeface="Segoe UI"/>
              </a:rPr>
              <a:t>). One authoritative guard for server actions, API routes, and UI. Same pattern for </a:t>
            </a:r>
            <a:r>
              <a:rPr sz="1700" b="1">
                <a:solidFill>
                  <a:srgbClr val="38BDF8"/>
                </a:solidFill>
                <a:latin typeface="Segoe UI"/>
              </a:rPr>
              <a:t>complaints</a:t>
            </a:r>
            <a:r>
              <a:rPr sz="1700" b="0">
                <a:solidFill>
                  <a:srgbClr val="E2E8F0"/>
                </a:solidFill>
                <a:latin typeface="Segoe UI"/>
              </a:rPr>
              <a:t> and </a:t>
            </a:r>
            <a:r>
              <a:rPr sz="1700" b="1">
                <a:solidFill>
                  <a:srgbClr val="38BDF8"/>
                </a:solidFill>
                <a:latin typeface="Segoe UI"/>
              </a:rPr>
              <a:t>feedback</a:t>
            </a:r>
            <a:r>
              <a:rPr sz="1700" b="0">
                <a:solidFill>
                  <a:srgbClr val="E2E8F0"/>
                </a:solidFill>
                <a:latin typeface="Segoe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LingkodBayan — Civic Services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Segoe U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solidFill>
                  <a:srgbClr val="94A3B8"/>
                </a:solidFill>
                <a:latin typeface="Segoe UI"/>
              </a:rPr>
              <a:t>10  </a:t>
            </a:r>
            <a:r>
              <a:rPr sz="3400" b="1">
                <a:solidFill>
                  <a:srgbClr val="38BDF8"/>
                </a:solidFill>
                <a:latin typeface="Segoe UI"/>
              </a:rPr>
              <a:t>CS Concept: Algorithms &amp; Data Structures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54480"/>
            <a:ext cx="51206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28600" tIns="201168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Segoe UI"/>
              </a:rPr>
              <a:t>Algorithms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• </a:t>
            </a:r>
            <a:r>
              <a:rPr sz="1500" b="1">
                <a:solidFill>
                  <a:srgbClr val="38BDF8"/>
                </a:solidFill>
                <a:latin typeface="Segoe UI"/>
              </a:rPr>
              <a:t>Levenshtein distance</a:t>
            </a:r>
            <a:r>
              <a:rPr sz="1500" b="0">
                <a:solidFill>
                  <a:srgbClr val="E2E8F0"/>
                </a:solidFill>
                <a:latin typeface="Segoe UI"/>
              </a:rPr>
              <a:t> (DP, O(n×m)) — fuzzy name matching in ID verification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• </a:t>
            </a:r>
            <a:r>
              <a:rPr sz="1500" b="1">
                <a:solidFill>
                  <a:srgbClr val="38BDF8"/>
                </a:solidFill>
                <a:latin typeface="Segoe UI"/>
              </a:rPr>
              <a:t>NYSIIS phonetic matching</a:t>
            </a:r>
            <a:r>
              <a:rPr sz="1500" b="0">
                <a:solidFill>
                  <a:srgbClr val="E2E8F0"/>
                </a:solidFill>
                <a:latin typeface="Segoe UI"/>
              </a:rPr>
              <a:t> — name variations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• </a:t>
            </a:r>
            <a:r>
              <a:rPr sz="1500" b="1">
                <a:solidFill>
                  <a:srgbClr val="38BDF8"/>
                </a:solidFill>
                <a:latin typeface="Segoe UI"/>
              </a:rPr>
              <a:t>Weighted scoring</a:t>
            </a:r>
            <a:r>
              <a:rPr sz="1500" b="0">
                <a:solidFill>
                  <a:srgbClr val="E2E8F0"/>
                </a:solidFill>
                <a:latin typeface="Segoe UI"/>
              </a:rPr>
              <a:t> — auto-verify vs. needs-review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• </a:t>
            </a:r>
            <a:r>
              <a:rPr sz="1500" b="1">
                <a:solidFill>
                  <a:srgbClr val="38BDF8"/>
                </a:solidFill>
                <a:latin typeface="Segoe UI"/>
              </a:rPr>
              <a:t>Rate limiting</a:t>
            </a:r>
            <a:r>
              <a:rPr sz="1500" b="0">
                <a:solidFill>
                  <a:srgbClr val="E2E8F0"/>
                </a:solidFill>
                <a:latin typeface="Segoe UI"/>
              </a:rPr>
              <a:t> — fixed-window counters (Postgres-durable)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12064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28600" tIns="201168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2C55E"/>
                </a:solidFill>
                <a:latin typeface="Segoe UI"/>
              </a:rPr>
              <a:t>Data Structures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• </a:t>
            </a:r>
            <a:r>
              <a:rPr sz="1500" b="1">
                <a:solidFill>
                  <a:srgbClr val="38BDF8"/>
                </a:solidFill>
                <a:latin typeface="Segoe UI"/>
              </a:rPr>
              <a:t>HashMap</a:t>
            </a:r>
            <a:r>
              <a:rPr sz="1500" b="0">
                <a:solidFill>
                  <a:srgbClr val="E2E8F0"/>
                </a:solidFill>
                <a:latin typeface="Segoe UI"/>
              </a:rPr>
              <a:t> — O(1) rate-limit counters, resident lookups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• </a:t>
            </a:r>
            <a:r>
              <a:rPr sz="1500" b="1">
                <a:solidFill>
                  <a:srgbClr val="38BDF8"/>
                </a:solidFill>
                <a:latin typeface="Segoe UI"/>
              </a:rPr>
              <a:t>HashSet</a:t>
            </a:r>
            <a:r>
              <a:rPr sz="1500" b="0">
                <a:solidFill>
                  <a:srgbClr val="E2E8F0"/>
                </a:solidFill>
                <a:latin typeface="Segoe UI"/>
              </a:rPr>
              <a:t> — XSS allowlist, allowed transitions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• </a:t>
            </a:r>
            <a:r>
              <a:rPr sz="1500" b="1">
                <a:solidFill>
                  <a:srgbClr val="38BDF8"/>
                </a:solidFill>
                <a:latin typeface="Segoe UI"/>
              </a:rPr>
              <a:t>Job queue</a:t>
            </a:r>
            <a:r>
              <a:rPr sz="1500" b="0">
                <a:solidFill>
                  <a:srgbClr val="E2E8F0"/>
                </a:solidFill>
                <a:latin typeface="Segoe UI"/>
              </a:rPr>
              <a:t> — Postgres-backed OCR jobs + polling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• </a:t>
            </a:r>
            <a:r>
              <a:rPr sz="1500" b="1">
                <a:solidFill>
                  <a:srgbClr val="38BDF8"/>
                </a:solidFill>
                <a:latin typeface="Segoe UI"/>
              </a:rPr>
              <a:t>TTL cleanup</a:t>
            </a:r>
            <a:r>
              <a:rPr sz="1500" b="0">
                <a:solidFill>
                  <a:srgbClr val="E2E8F0"/>
                </a:solidFill>
                <a:latin typeface="Segoe UI"/>
              </a:rPr>
              <a:t> — DB trigger auto-deletes expired PII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LingkodBayan — Civic Services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Segoe U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solidFill>
                  <a:srgbClr val="94A3B8"/>
                </a:solidFill>
                <a:latin typeface="Segoe UI"/>
              </a:rPr>
              <a:t>11  </a:t>
            </a:r>
            <a:r>
              <a:rPr sz="3400" b="1">
                <a:solidFill>
                  <a:srgbClr val="38BDF8"/>
                </a:solidFill>
                <a:latin typeface="Segoe UI"/>
              </a:rPr>
              <a:t>CS Concept: Security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</a:t>
            </a:r>
            <a:r>
              <a:rPr sz="1700" b="1">
                <a:solidFill>
                  <a:srgbClr val="38BDF8"/>
                </a:solidFill>
                <a:latin typeface="Segoe UI"/>
              </a:rPr>
              <a:t>Cryptography</a:t>
            </a:r>
            <a:r>
              <a:rPr sz="1700" b="0">
                <a:solidFill>
                  <a:srgbClr val="E2E8F0"/>
                </a:solidFill>
                <a:latin typeface="Segoe UI"/>
              </a:rPr>
              <a:t> — AES-GCM encryption (random IV), SHA-256 key derivation, bcrypt hashing, CSPRNG tokens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</a:t>
            </a:r>
            <a:r>
              <a:rPr sz="1700" b="1">
                <a:solidFill>
                  <a:srgbClr val="38BDF8"/>
                </a:solidFill>
                <a:latin typeface="Segoe UI"/>
              </a:rPr>
              <a:t>CSRF protection</a:t>
            </a:r>
            <a:r>
              <a:rPr sz="1700" b="0">
                <a:solidFill>
                  <a:srgbClr val="E2E8F0"/>
                </a:solidFill>
                <a:latin typeface="Segoe UI"/>
              </a:rPr>
              <a:t> — 32-byte double-submit tokens; header must match cookie → else HTTP 403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</a:t>
            </a:r>
            <a:r>
              <a:rPr sz="1700" b="1">
                <a:solidFill>
                  <a:srgbClr val="38BDF8"/>
                </a:solidFill>
                <a:latin typeface="Segoe UI"/>
              </a:rPr>
              <a:t>RBAC</a:t>
            </a:r>
            <a:r>
              <a:rPr sz="1700" b="0">
                <a:solidFill>
                  <a:srgbClr val="E2E8F0"/>
                </a:solidFill>
                <a:latin typeface="Segoe UI"/>
              </a:rPr>
              <a:t> — roles read only from app_metadata (users cannot self-promote to admin)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</a:t>
            </a:r>
            <a:r>
              <a:rPr sz="1700" b="1">
                <a:solidFill>
                  <a:srgbClr val="38BDF8"/>
                </a:solidFill>
                <a:latin typeface="Segoe UI"/>
              </a:rPr>
              <a:t>Row-Level Security</a:t>
            </a:r>
            <a:r>
              <a:rPr sz="1700" b="0">
                <a:solidFill>
                  <a:srgbClr val="E2E8F0"/>
                </a:solidFill>
                <a:latin typeface="Segoe UI"/>
              </a:rPr>
              <a:t> — enforced inside the database, not just the UI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</a:t>
            </a:r>
            <a:r>
              <a:rPr sz="1700" b="1">
                <a:solidFill>
                  <a:srgbClr val="38BDF8"/>
                </a:solidFill>
                <a:latin typeface="Segoe UI"/>
              </a:rPr>
              <a:t>Rate limiting</a:t>
            </a:r>
            <a:r>
              <a:rPr sz="1700" b="0">
                <a:solidFill>
                  <a:srgbClr val="E2E8F0"/>
                </a:solidFill>
                <a:latin typeface="Segoe UI"/>
              </a:rPr>
              <a:t> — fixed-window counters, durable in Postgres (survives serverless cold starts)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</a:t>
            </a:r>
            <a:r>
              <a:rPr sz="1700" b="1">
                <a:solidFill>
                  <a:srgbClr val="38BDF8"/>
                </a:solidFill>
                <a:latin typeface="Segoe UI"/>
              </a:rPr>
              <a:t>XSS defense</a:t>
            </a:r>
            <a:r>
              <a:rPr sz="1700" b="0">
                <a:solidFill>
                  <a:srgbClr val="E2E8F0"/>
                </a:solidFill>
                <a:latin typeface="Segoe UI"/>
              </a:rPr>
              <a:t> — HTML tag/attribute allowlist sanitizer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</a:t>
            </a:r>
            <a:r>
              <a:rPr sz="1700" b="1">
                <a:solidFill>
                  <a:srgbClr val="38BDF8"/>
                </a:solidFill>
                <a:latin typeface="Segoe UI"/>
              </a:rPr>
              <a:t>PII hygiene</a:t>
            </a:r>
            <a:r>
              <a:rPr sz="1700" b="0">
                <a:solidFill>
                  <a:srgbClr val="E2E8F0"/>
                </a:solidFill>
                <a:latin typeface="Segoe UI"/>
              </a:rPr>
              <a:t> — DB trigger auto-deletes expired OCR rows (TTL / garbage collection)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LingkodBayan — Civic Services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Segoe U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solidFill>
                  <a:srgbClr val="94A3B8"/>
                </a:solidFill>
                <a:latin typeface="Segoe UI"/>
              </a:rPr>
              <a:t>12  </a:t>
            </a:r>
            <a:r>
              <a:rPr sz="3400" b="1">
                <a:solidFill>
                  <a:srgbClr val="38BDF8"/>
                </a:solidFill>
                <a:latin typeface="Segoe UI"/>
              </a:rPr>
              <a:t>Testing &amp;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</a:t>
            </a:r>
            <a:r>
              <a:rPr sz="1700" b="1">
                <a:solidFill>
                  <a:srgbClr val="38BDF8"/>
                </a:solidFill>
                <a:latin typeface="Segoe UI"/>
              </a:rPr>
              <a:t>Unit tests</a:t>
            </a:r>
            <a:r>
              <a:rPr sz="1700" b="0">
                <a:solidFill>
                  <a:srgbClr val="E2E8F0"/>
                </a:solidFill>
                <a:latin typeface="Segoe UI"/>
              </a:rPr>
              <a:t> — pnpm test (Node test runner on lib/</a:t>
            </a:r>
            <a:r>
              <a:rPr sz="1700" b="1">
                <a:solidFill>
                  <a:srgbClr val="38BDF8"/>
                </a:solidFill>
                <a:latin typeface="Segoe UI"/>
              </a:rPr>
              <a:t>/*.test.ts)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</a:t>
            </a:r>
            <a:r>
              <a:rPr sz="1700" b="1">
                <a:solidFill>
                  <a:srgbClr val="38BDF8"/>
                </a:solidFill>
                <a:latin typeface="Segoe UI"/>
              </a:rPr>
              <a:t>E2E tests</a:t>
            </a:r>
            <a:r>
              <a:rPr sz="1700" b="0">
                <a:solidFill>
                  <a:srgbClr val="E2E8F0"/>
                </a:solidFill>
                <a:latin typeface="Segoe UI"/>
              </a:rPr>
              <a:t> — Playwright: landing, auth guards, public tracking, citizen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</a:t>
            </a:r>
            <a:r>
              <a:rPr sz="1700" b="1">
                <a:solidFill>
                  <a:srgbClr val="38BDF8"/>
                </a:solidFill>
                <a:latin typeface="Segoe UI"/>
              </a:rPr>
              <a:t>Accessibility</a:t>
            </a:r>
            <a:r>
              <a:rPr sz="1700" b="0">
                <a:solidFill>
                  <a:srgbClr val="E2E8F0"/>
                </a:solidFill>
                <a:latin typeface="Segoe UI"/>
              </a:rPr>
              <a:t> — axe-core WCAG 2.1 AA scan; serious violations fail the build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• </a:t>
            </a:r>
            <a:r>
              <a:rPr sz="1700" b="1">
                <a:solidFill>
                  <a:srgbClr val="38BDF8"/>
                </a:solidFill>
                <a:latin typeface="Segoe UI"/>
              </a:rPr>
              <a:t>CI/CD</a:t>
            </a:r>
            <a:r>
              <a:rPr sz="1700" b="0">
                <a:solidFill>
                  <a:srgbClr val="E2E8F0"/>
                </a:solidFill>
                <a:latin typeface="Segoe UI"/>
              </a:rPr>
              <a:t> — GitHub Actions on Node 22: lint, typecheck, build,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94A3B8"/>
                </a:solidFill>
                <a:latin typeface="Segoe UI"/>
              </a:rPr>
              <a:t>Deployment: push to GitHub → connect to Vercel → set env vars →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LingkodBayan — Civic Services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Segoe U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solidFill>
                  <a:srgbClr val="94A3B8"/>
                </a:solidFill>
                <a:latin typeface="Segoe UI"/>
              </a:rPr>
              <a:t>13  </a:t>
            </a:r>
            <a:r>
              <a:rPr sz="3400" b="1">
                <a:solidFill>
                  <a:srgbClr val="38BDF8"/>
                </a:solidFill>
                <a:latin typeface="Segoe UI"/>
              </a:rPr>
              <a:t>Future Work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Offline support via service worker (network-first caching already shipped)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Map-based request clustering on the Leaflet heatmap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Automated sync of the pre-registered resident 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E2E8F0"/>
                </a:solidFill>
                <a:latin typeface="Segoe UI"/>
              </a:rPr>
              <a:t>LingkodBayan turns a paper-based barangay workflow into a </a:t>
            </a:r>
            <a:r>
              <a:rPr sz="1900" b="1">
                <a:solidFill>
                  <a:srgbClr val="38BDF8"/>
                </a:solidFill>
                <a:latin typeface="Segoe UI"/>
              </a:rPr>
              <a:t>transparent, secure, and accessible</a:t>
            </a:r>
            <a:r>
              <a:rPr sz="1900" b="0">
                <a:solidFill>
                  <a:srgbClr val="E2E8F0"/>
                </a:solidFill>
                <a:latin typeface="Segoe UI"/>
              </a:rPr>
              <a:t> digital service — built on core CS foundations: </a:t>
            </a:r>
            <a:r>
              <a:rPr sz="1900" b="1">
                <a:solidFill>
                  <a:srgbClr val="38BDF8"/>
                </a:solidFill>
                <a:latin typeface="Segoe UI"/>
              </a:rPr>
              <a:t>finite state machines, dynamic programming, cryptography, and access-control theory</a:t>
            </a:r>
            <a:r>
              <a:rPr sz="1900" b="0">
                <a:solidFill>
                  <a:srgbClr val="E2E8F0"/>
                </a:solidFill>
                <a:latin typeface="Segoe U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C55E"/>
                </a:solidFill>
                <a:latin typeface="Segoe UI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LingkodBayan — Civic Services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Segoe U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